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5F5F5"/>
                </a:solidFill>
              </a:defRPr>
            </a:pPr>
            <a:r>
              <a:t>Helicopter Ground Transportation</a:t>
            </a:r>
          </a:p>
          <a:p>
            <a: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D969A"/>
                </a:solidFill>
              </a:defRPr>
            </a:pPr>
            <a:r>
              <a:t>Complete Analysis: Data to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5F5F5"/>
                </a:solidFill>
              </a:defRPr>
            </a:pPr>
            <a:r>
              <a:t>7 Cities • 197 Premium ZIPs • 21 Clusters • 3.1M Flights • 541k Premium Seats/Day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1C3334"/>
                </a:solidFill>
              </a:defRPr>
            </a:pPr>
            <a:r>
              <a:t>PART 1: METHODOLOGY (Slides 3-5)</a:t>
            </a:r>
          </a:p>
          <a:p>
            <a:pPr>
              <a:defRPr sz="1100" i="1">
                <a:solidFill>
                  <a:srgbClr val="2C494B"/>
                </a:solidFill>
              </a:defRPr>
            </a:pPr>
            <a:r>
              <a:t>   Ranking process, data sources, integration</a:t>
            </a:r>
          </a:p>
          <a:p/>
          <a:p>
            <a:pPr>
              <a:spcBef>
                <a:spcPts val="1000"/>
              </a:spcBef>
              <a:defRPr sz="1400" b="1">
                <a:solidFill>
                  <a:srgbClr val="1C3334"/>
                </a:solidFill>
              </a:defRPr>
            </a:pPr>
            <a:r>
              <a:t>PART 2: MARKET IDENTIFICATION (Slides 6-9)</a:t>
            </a:r>
          </a:p>
          <a:p>
            <a:pPr>
              <a:defRPr sz="1100" i="1">
                <a:solidFill>
                  <a:srgbClr val="2C494B"/>
                </a:solidFill>
              </a:defRPr>
            </a:pPr>
            <a:r>
              <a:t>   Household wealth, corporate power, intersection</a:t>
            </a:r>
          </a:p>
          <a:p/>
          <a:p>
            <a:pPr>
              <a:spcBef>
                <a:spcPts val="1000"/>
              </a:spcBef>
              <a:defRPr sz="1400" b="1">
                <a:solidFill>
                  <a:srgbClr val="1C3334"/>
                </a:solidFill>
              </a:defRPr>
            </a:pPr>
            <a:r>
              <a:t>PART 3: CLUSTER ANALYSIS (Slides 10-14)</a:t>
            </a:r>
          </a:p>
          <a:p>
            <a:pPr>
              <a:defRPr sz="1100" i="1">
                <a:solidFill>
                  <a:srgbClr val="2C494B"/>
                </a:solidFill>
              </a:defRPr>
            </a:pPr>
            <a:r>
              <a:t>   What, why, how - Deep dive with diagrams</a:t>
            </a:r>
          </a:p>
          <a:p/>
          <a:p>
            <a:pPr>
              <a:spcBef>
                <a:spcPts val="1000"/>
              </a:spcBef>
              <a:defRPr sz="1400" b="1">
                <a:solidFill>
                  <a:srgbClr val="1C3334"/>
                </a:solidFill>
              </a:defRPr>
            </a:pPr>
            <a:r>
              <a:t>PART 4: PREMIUM FLIGHTS (Slides 15-18)</a:t>
            </a:r>
          </a:p>
          <a:p>
            <a:pPr>
              <a:defRPr sz="1100" i="1">
                <a:solidFill>
                  <a:srgbClr val="2C494B"/>
                </a:solidFill>
              </a:defRPr>
            </a:pPr>
            <a:r>
              <a:t>   Market sizing, aircraft analysis, temporal patterns</a:t>
            </a:r>
          </a:p>
          <a:p/>
          <a:p>
            <a:pPr>
              <a:spcBef>
                <a:spcPts val="1000"/>
              </a:spcBef>
              <a:defRPr sz="1400" b="1">
                <a:solidFill>
                  <a:srgbClr val="1C3334"/>
                </a:solidFill>
              </a:defRPr>
            </a:pPr>
            <a:r>
              <a:t>PART 5: CITY DEEP DIVES (Slides 19-23)</a:t>
            </a:r>
          </a:p>
          <a:p>
            <a:pPr>
              <a:defRPr sz="1100" i="1">
                <a:solidFill>
                  <a:srgbClr val="2C494B"/>
                </a:solidFill>
              </a:defRPr>
            </a:pPr>
            <a:r>
              <a:t>   New York, Los Angeles, Chicago, Dallas, San Francisco</a:t>
            </a:r>
          </a:p>
          <a:p/>
          <a:p>
            <a:pPr>
              <a:spcBef>
                <a:spcPts val="1000"/>
              </a:spcBef>
              <a:defRPr sz="1400" b="1">
                <a:solidFill>
                  <a:srgbClr val="1C3334"/>
                </a:solidFill>
              </a:defRPr>
            </a:pPr>
            <a:r>
              <a:t>PART 6: STRATEGIC RECOMMENDATIONS (Slides 24-27)</a:t>
            </a:r>
          </a:p>
          <a:p>
            <a:pPr>
              <a:defRPr sz="1100" i="1">
                <a:solidFill>
                  <a:srgbClr val="2C494B"/>
                </a:solidFill>
              </a:defRPr>
            </a:pPr>
            <a:r>
              <a:t>   Priorities, revenue scenarios,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Project Scope &amp; Methodology</a:t>
            </a:r>
          </a:p>
        </p:txBody>
      </p:sp>
      <p:pic>
        <p:nvPicPr>
          <p:cNvPr id="3" name="Picture 2" descr="methodology_flow_diagram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80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C494B"/>
                </a:solidFill>
              </a:defRPr>
            </a:pPr>
            <a:r>
              <a:t>Key Question: "Where should REVO expand helicopter services?"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C3334"/>
                </a:solidFill>
              </a:defRPr>
            </a:pPr>
            <a:r>
              <a:t>City Ranking Methodology: 10-Step Process</a:t>
            </a:r>
          </a:p>
        </p:txBody>
      </p:sp>
      <p:pic>
        <p:nvPicPr>
          <p:cNvPr id="3" name="Picture 2" descr="ranking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6121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Data Sources &amp; Integration</a:t>
            </a:r>
          </a:p>
        </p:txBody>
      </p:sp>
      <p:pic>
        <p:nvPicPr>
          <p:cNvPr id="3" name="Picture 2" descr="data_sources_diagram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56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494B"/>
                </a:solidFill>
              </a:defRPr>
            </a:pPr>
            <a:r>
              <a:t>Data Volume: 80.8M Flights • 197 Premium ZIPs • 6 Major Airports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C3334"/>
                </a:solidFill>
              </a:defRPr>
            </a:pPr>
            <a:r>
              <a:t>The 'Golden Intersection' Approach</a:t>
            </a:r>
          </a:p>
        </p:txBody>
      </p:sp>
      <p:pic>
        <p:nvPicPr>
          <p:cNvPr id="3" name="Picture 2" descr="venn_diagram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58728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828800"/>
          <a:ext cx="411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1C3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</a:defRPr>
                      </a:pPr>
                      <a:r>
                        <a:t>Intersection ZIPs</a:t>
                      </a:r>
                    </a:p>
                  </a:txBody>
                  <a:tcPr>
                    <a:solidFill>
                      <a:srgbClr val="1C3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</a:defRPr>
                      </a:pPr>
                      <a:r>
                        <a:t>HH $200k+</a:t>
                      </a:r>
                    </a:p>
                  </a:txBody>
                  <a:tcPr>
                    <a:solidFill>
                      <a:srgbClr val="1C333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476,000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Los Angeles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170,000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San Francisco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140,000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Dallas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95,000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120,000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Houston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65,000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Miami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55,000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Corporate Power Analysis</a:t>
            </a:r>
          </a:p>
        </p:txBody>
      </p:sp>
      <p:pic>
        <p:nvPicPr>
          <p:cNvPr id="3" name="Picture 2" descr="corporate_power_char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155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Cluster Analysis: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C3334"/>
                </a:solidFill>
              </a:defRPr>
            </a:pPr>
            <a:r>
              <a:t>Why did we cluster 197 premium ZIP codes?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3334"/>
                </a:solidFill>
              </a:defRPr>
            </a:pPr>
            <a:r>
              <a:t>1. Operational Efficiency: Group nearby ZIPs for optimized helicopter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3334"/>
                </a:solidFill>
              </a:defRPr>
            </a:pPr>
            <a:r>
              <a:t>2. Service Area Design: Define coverage zones and identify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3334"/>
                </a:solidFill>
              </a:defRPr>
            </a:pPr>
            <a:r>
              <a:t>3. Market Segmentation: Tailor services and pricing by cluster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3334"/>
                </a:solidFill>
              </a:defRPr>
            </a:pPr>
            <a:r>
              <a:t>4. Resource Allocation: Position fleet and staff based on cluster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Clustering: Before &amp; After</a:t>
            </a:r>
          </a:p>
        </p:txBody>
      </p:sp>
      <p:pic>
        <p:nvPicPr>
          <p:cNvPr id="3" name="Picture 2" descr="cluster_concep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5903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Why Cluster Analysis is Critical</a:t>
            </a:r>
          </a:p>
        </p:txBody>
      </p:sp>
      <p:pic>
        <p:nvPicPr>
          <p:cNvPr id="3" name="Picture 2" descr="cluster_benefit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506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C3334"/>
                </a:solidFill>
              </a:defRPr>
            </a:pPr>
            <a:r>
              <a:t>From Clusters to Service Area Design</a:t>
            </a:r>
          </a:p>
        </p:txBody>
      </p:sp>
      <p:pic>
        <p:nvPicPr>
          <p:cNvPr id="3" name="Picture 2" descr="cluster_service_area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68464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Premium Flights Market Sizing</a:t>
            </a:r>
          </a:p>
        </p:txBody>
      </p:sp>
      <p:pic>
        <p:nvPicPr>
          <p:cNvPr id="3" name="Picture 2" descr="premium_seats_char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7773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Market Potential &amp; Revenue Scenarios</a:t>
            </a:r>
          </a:p>
        </p:txBody>
      </p:sp>
      <p:pic>
        <p:nvPicPr>
          <p:cNvPr id="3" name="Picture 2" descr="revenue_scenarios_char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7810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Priority 1: New York JFK</a:t>
            </a:r>
          </a:p>
          <a:p>
            <a:pPr>
              <a:defRPr sz="1200">
                <a:solidFill>
                  <a:srgbClr val="2C494B"/>
                </a:solidFill>
              </a:defRPr>
            </a:pPr>
            <a:r>
              <a:t>  • Largest market: 136k premium seats/day</a:t>
            </a:r>
          </a:p>
          <a:p>
            <a:pPr>
              <a:defRPr sz="1200">
                <a:solidFill>
                  <a:srgbClr val="2C494B"/>
                </a:solidFill>
              </a:defRPr>
            </a:pPr>
            <a:r>
              <a:t>  • 200+ heliports, established infrastructure</a:t>
            </a:r>
          </a:p>
          <a:p>
            <a:pPr>
              <a:defRPr sz="1200">
                <a:solidFill>
                  <a:srgbClr val="2C494B"/>
                </a:solidFill>
              </a:defRPr>
            </a:pPr>
            <a:r>
              <a:t>  • Potential: $75M/year (moderate scenario)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D969A"/>
                </a:solidFill>
              </a:defRPr>
            </a:pPr>
            <a:r>
              <a:t>Priority 2: Los Angeles LAX</a:t>
            </a:r>
          </a:p>
          <a:p>
            <a:pPr>
              <a:defRPr sz="1200">
                <a:solidFill>
                  <a:srgbClr val="2C494B"/>
                </a:solidFill>
              </a:defRPr>
            </a:pPr>
            <a:r>
              <a:t>  • Second largest: 117k premium seats/day</a:t>
            </a:r>
          </a:p>
          <a:p>
            <a:pPr>
              <a:defRPr sz="1200">
                <a:solidFill>
                  <a:srgbClr val="2C494B"/>
                </a:solidFill>
              </a:defRPr>
            </a:pPr>
            <a:r>
              <a:t>  • Existing helicopter culture</a:t>
            </a:r>
          </a:p>
          <a:p>
            <a:pPr>
              <a:defRPr sz="1200">
                <a:solidFill>
                  <a:srgbClr val="2C494B"/>
                </a:solidFill>
              </a:defRPr>
            </a:pPr>
            <a:r>
              <a:t>  • Potential: $64M/year (moderate scenario)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Priority 3: Chicago ORD</a:t>
            </a:r>
          </a:p>
          <a:p>
            <a:pPr>
              <a:defRPr sz="1200">
                <a:solidFill>
                  <a:srgbClr val="2C494B"/>
                </a:solidFill>
              </a:defRPr>
            </a:pPr>
            <a:r>
              <a:t>  • Third largest: 101k premium seats/day</a:t>
            </a:r>
          </a:p>
          <a:p>
            <a:pPr>
              <a:defRPr sz="1200">
                <a:solidFill>
                  <a:srgbClr val="2C494B"/>
                </a:solidFill>
              </a:defRPr>
            </a:pPr>
            <a:r>
              <a:t>  • Highest avg seats/flight (90.8)</a:t>
            </a:r>
          </a:p>
          <a:p>
            <a:pPr>
              <a:defRPr sz="1200">
                <a:solidFill>
                  <a:srgbClr val="2C494B"/>
                </a:solidFill>
              </a:defRPr>
            </a:pPr>
            <a:r>
              <a:t>  • Potential: $56M/year (moderate scenario)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3334"/>
                </a:solidFill>
              </a:defRPr>
            </a:pPr>
            <a:r>
              <a:t>Implementation: Q1 Route Analysis → Q2 Partnerships → Q3 NYC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C494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