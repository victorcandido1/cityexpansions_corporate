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3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5F5F5"/>
                </a:solidFill>
              </a:defRPr>
            </a:pPr>
            <a:r>
              <a:t>Helicopter Ground Transportation</a:t>
            </a:r>
          </a:p>
          <a:p>
            <a: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D969A"/>
                </a:solidFill>
              </a:defRPr>
            </a:pPr>
            <a:r>
              <a:t>Data-Driven Site Selection for Premium Air Mobility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0292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5F5F5"/>
                </a:solidFill>
              </a:defRPr>
            </a:pPr>
            <a:r>
              <a:t>7 Cities Analyzed  •  197 Premium ZIP Codes  •  3.1M Premium Flights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Project Scope &amp; Methodology</a:t>
            </a:r>
          </a:p>
        </p:txBody>
      </p:sp>
      <p:pic>
        <p:nvPicPr>
          <p:cNvPr id="3" name="Picture 2" descr="methodology_flow_diagram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02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2C494B"/>
                </a:solidFill>
              </a:defRPr>
            </a:pPr>
            <a:r>
              <a:t>Key Question: "Where should REVO expand helicopter services?"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C3334"/>
                </a:solidFill>
              </a:defRPr>
            </a:pPr>
            <a:r>
              <a:t>City Ranking Methodology: 10-Step Process</a:t>
            </a:r>
          </a:p>
        </p:txBody>
      </p:sp>
      <p:pic>
        <p:nvPicPr>
          <p:cNvPr id="3" name="Picture 2" descr="ranking_sequenc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6121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Data Sources &amp; Integration</a:t>
            </a:r>
          </a:p>
        </p:txBody>
      </p:sp>
      <p:pic>
        <p:nvPicPr>
          <p:cNvPr id="3" name="Picture 2" descr="data_sources_diagram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56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C494B"/>
                </a:solidFill>
              </a:defRPr>
            </a:pPr>
            <a:r>
              <a:t>Data Volume: 80.8M Flights  •  197 Premium ZIPs  •  6 Major Airports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C3334"/>
                </a:solidFill>
              </a:defRPr>
            </a:pPr>
            <a:r>
              <a:t>City Selection: Top 10% Intersection Analysis</a:t>
            </a:r>
          </a:p>
        </p:txBody>
      </p:sp>
      <p:pic>
        <p:nvPicPr>
          <p:cNvPr id="3" name="Picture 2" descr="venn_diagram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587281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828800"/>
          <a:ext cx="411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</a:defRPr>
                      </a:pPr>
                      <a:r>
                        <a:t>Intersection ZIPs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5F5"/>
                          </a:solidFill>
                        </a:defRPr>
                      </a:pPr>
                      <a:r>
                        <a:t>HH $200k+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New York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476,000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Los Angeles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170,000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San Francisco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140,000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Dallas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95,000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Chicago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120,000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Houston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65,000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Miami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C494B"/>
                          </a:solidFill>
                        </a:defRPr>
                      </a:pPr>
                      <a:r>
                        <a:t>55,000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D969A"/>
                </a:solidFill>
              </a:defRPr>
            </a:pPr>
            <a:r>
              <a:t>197 Premium ZIP Codes identified across 7 cities combining high household wealth and strong corporate presence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Corporate Power Analysis</a:t>
            </a:r>
          </a:p>
        </p:txBody>
      </p:sp>
      <p:pic>
        <p:nvPicPr>
          <p:cNvPr id="3" name="Picture 2" descr="corporate_power_char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9155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C494B"/>
                </a:solidFill>
              </a:defRPr>
            </a:pPr>
            <a:r>
              <a:t>• Dallas: Largest corporate base after MSA cost-of-living adjustments</a:t>
            </a:r>
          </a:p>
          <a:p>
            <a:pPr>
              <a:defRPr sz="1400">
                <a:solidFill>
                  <a:srgbClr val="2C494B"/>
                </a:solidFill>
              </a:defRPr>
            </a:pPr>
            <a:r>
              <a:t>• San Francisco: Highest revenue per employee ($450k avg) - tech dominance</a:t>
            </a:r>
          </a:p>
          <a:p>
            <a:pPr>
              <a:defRPr sz="1400">
                <a:solidFill>
                  <a:srgbClr val="2C494B"/>
                </a:solidFill>
              </a:defRPr>
            </a:pPr>
            <a:r>
              <a:t>• New York: Most diverse industry mix (Finance, Legal, Media, Real Estate)</a:t>
            </a:r>
          </a:p>
          <a:p>
            <a:pPr>
              <a:defRPr sz="1400" b="1">
                <a:solidFill>
                  <a:srgbClr val="4D969A"/>
                </a:solidFill>
              </a:defRPr>
            </a:pPr>
            <a:r>
              <a:t>• Key Industries: Finance, Technology, Professional Services, Healthcare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C3334"/>
                </a:solidFill>
              </a:defRPr>
            </a:pPr>
            <a:r>
              <a:t>Airport &amp; Heliport Infrastructure + Clusters</a:t>
            </a:r>
          </a:p>
        </p:txBody>
      </p:sp>
      <p:pic>
        <p:nvPicPr>
          <p:cNvPr id="3" name="Picture 2" descr="network_graph_nat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65740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494B"/>
                </a:solidFill>
              </a:defRPr>
            </a:pPr>
            <a:r>
              <a:t>• 197 premium ZIPs clustered into 21 groups around major aviation hubs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• 30% of ZIPs have heliport within 5km  •  60% within 10km</a:t>
            </a:r>
          </a:p>
          <a:p>
            <a:pPr>
              <a:defRPr sz="1300" b="1">
                <a:solidFill>
                  <a:srgbClr val="4D969A"/>
                </a:solidFill>
              </a:defRPr>
            </a:pPr>
            <a:r>
              <a:t>• NYC: 200+ heliports  •  LA: 100+ heliports  •  Strong existing infrastructure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Premium Flights Market Analysis</a:t>
            </a:r>
          </a:p>
        </p:txBody>
      </p:sp>
      <p:pic>
        <p:nvPicPr>
          <p:cNvPr id="3" name="Picture 2" descr="premium_seats_char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0859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8229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C494B"/>
                </a:solidFill>
              </a:defRPr>
            </a:pPr>
            <a:r>
              <a:t>Focus: Widebody aircraft only (B787, B777, A330, A350) with flights &gt;5 hours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Boeing 787 dominance: 40% of all premium flights (1.25M flights/year)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B787-10 most luxurious: 142 premium seats average</a:t>
            </a:r>
          </a:p>
          <a:p>
            <a:pPr>
              <a:defRPr sz="1300" b="1">
                <a:solidFill>
                  <a:srgbClr val="4D969A"/>
                </a:solidFill>
              </a:defRPr>
            </a:pPr>
            <a:r>
              <a:t>Total Market: 541,464 premium seats/day across 6 airports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C3334"/>
                </a:solidFill>
              </a:defRPr>
            </a:pPr>
            <a:r>
              <a:t>Peak Hours for Premium Passengers (Local Time)</a:t>
            </a:r>
          </a:p>
        </p:txBody>
      </p:sp>
      <p:pic>
        <p:nvPicPr>
          <p:cNvPr id="3" name="Picture 2" descr="heatmap_hour_local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35757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Morning Peak (9-11am): Highest arrivals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5029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t>Evening Peak (5-7pm): Secondary rush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4D969A"/>
                </a:solidFill>
              </a:defRPr>
            </a:pPr>
            <a:r>
              <a:t>Operational Insight: Helicopter fleet must be positioned pre-9am for morning peak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Market Potential &amp; Revenue Scenarios</a:t>
            </a:r>
          </a:p>
        </p:txBody>
      </p:sp>
      <p:pic>
        <p:nvPicPr>
          <p:cNvPr id="3" name="Picture 2" descr="revenue_scenarios_chart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78100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5486400"/>
          <a:ext cx="73152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2286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</a:defRPr>
                      </a:pPr>
                      <a:r>
                        <a:t>JFK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</a:defRPr>
                      </a:pPr>
                      <a:r>
                        <a:t>LAX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</a:defRPr>
                      </a:pPr>
                      <a:r>
                        <a:t>ORD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5F5F5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C333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Conservative (0.1%)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$13M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D969A"/>
                          </a:solidFill>
                        </a:defRPr>
                      </a:pPr>
                      <a:r>
                        <a:t>$39M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Moderate (0.5%)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$75M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$64M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$56M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D969A"/>
                          </a:solidFill>
                        </a:defRPr>
                      </a:pPr>
                      <a:r>
                        <a:t>$194M</a:t>
                      </a: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Optimistic (1.0%)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$149M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$128M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494B"/>
                          </a:solidFill>
                        </a:defRPr>
                      </a:pPr>
                      <a:r>
                        <a:t>$111M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4D969A"/>
                          </a:solidFill>
                        </a:defRPr>
                      </a:pPr>
                      <a:r>
                        <a:t>$389M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1C3334"/>
                </a:solidFill>
              </a:defRPr>
            </a:pPr>
            <a:r>
              <a:t>Strategic Recommendations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Priority 1: New York JFK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Largest market: 136k premium seats/day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Established heliport infrastructure (200+ facilities)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Severe traffic congestion = high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4D969A"/>
                </a:solidFill>
              </a:defRPr>
            </a:pPr>
            <a:r>
              <a:t>Priority 2: Los Angeles LAX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Second largest: 117k premium seats/day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Existing helicopter culture and acceptance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Geographic spread favors aerial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Priority 3: Chicago ORD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Third largest: 101k premium seats/day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Highest avg seats/flight (90.8)</a:t>
            </a:r>
          </a:p>
          <a:p>
            <a:pPr>
              <a:defRPr sz="1300">
                <a:solidFill>
                  <a:srgbClr val="2C494B"/>
                </a:solidFill>
              </a:defRPr>
            </a:pPr>
            <a:r>
              <a:t>  • Central US hub with strong corporate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C3334"/>
                </a:solidFill>
              </a:defRPr>
            </a:pPr>
            <a:r>
              <a:t>Implementation Timeline: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Phase 1 (Q1): Detailed route analysis + pricing strategy</a:t>
            </a:r>
          </a:p>
          <a:p>
            <a:pPr>
              <a:defRPr sz="1200">
                <a:solidFill>
                  <a:srgbClr val="2C494B"/>
                </a:solidFill>
              </a:defRPr>
            </a:pPr>
            <a:r>
              <a:t>Phase 2 (Q2): Partnership discussions with FBOs</a:t>
            </a:r>
          </a:p>
          <a:p>
            <a:pPr>
              <a:defRPr sz="1200" b="1">
                <a:solidFill>
                  <a:srgbClr val="4D969A"/>
                </a:solidFill>
              </a:defRPr>
            </a:pPr>
            <a:r>
              <a:t>Phase 3 (Q3): Pilot launch in Priority 1 market (NYC)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