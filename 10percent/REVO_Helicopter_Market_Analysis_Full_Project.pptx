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C7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Helicopter Ground Transportation</a:t>
            </a:r>
          </a:p>
          <a:p>
            <a:r>
              <a:t>Market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3498DB"/>
                </a:solidFill>
              </a:defRPr>
            </a:pPr>
            <a:r>
              <a:t>Data-Driven Site Selection for Premium Air Mobility Services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5029200"/>
            <a:ext cx="5486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7 Cities Analyzed  •  197 Premium ZIP Codes  •  3.1M Premium Flights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>
                <a:solidFill>
                  <a:srgbClr val="1E3C72"/>
                </a:solidFill>
              </a:defRPr>
            </a:pPr>
            <a:r>
              <a:t>Project Scope &amp; Methodology</a:t>
            </a:r>
          </a:p>
        </p:txBody>
      </p:sp>
      <p:pic>
        <p:nvPicPr>
          <p:cNvPr id="3" name="Picture 2" descr="methodology_flow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408022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4864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i="1">
                <a:solidFill>
                  <a:srgbClr val="34495E"/>
                </a:solidFill>
              </a:defRPr>
            </a:pPr>
            <a:r>
              <a:t>Key Question: "Where should REVO expand helicopter services?"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>
                <a:solidFill>
                  <a:srgbClr val="1E3C72"/>
                </a:solidFill>
              </a:defRPr>
            </a:pPr>
            <a:r>
              <a:t>Data Sources &amp; Integration</a:t>
            </a:r>
          </a:p>
        </p:txBody>
      </p:sp>
      <p:pic>
        <p:nvPicPr>
          <p:cNvPr id="3" name="Picture 2" descr="data_sources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485630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9436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34495E"/>
                </a:solidFill>
              </a:defRPr>
            </a:pPr>
            <a:r>
              <a:t>Data Volume: 80.8M Flights Analyzed  •  197 Premium ZIPs Identified  •  6 Major Airports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1E3C72"/>
                </a:solidFill>
              </a:defRPr>
            </a:pPr>
            <a:r>
              <a:t>City Selection: Top 10% Intersection Analysis</a:t>
            </a:r>
          </a:p>
        </p:txBody>
      </p:sp>
      <p:pic>
        <p:nvPicPr>
          <p:cNvPr id="3" name="Picture 2" descr="venn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4114800" cy="2587281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754880" y="1828800"/>
          <a:ext cx="41148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371600"/>
                <a:gridCol w="1371600"/>
              </a:tblGrid>
              <a:tr h="40005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City</a:t>
                      </a:r>
                    </a:p>
                  </a:txBody>
                  <a:tcPr>
                    <a:solidFill>
                      <a:srgbClr val="1E3C7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Intersection ZIPs</a:t>
                      </a:r>
                    </a:p>
                  </a:txBody>
                  <a:tcPr>
                    <a:solidFill>
                      <a:srgbClr val="1E3C7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HH $200k+</a:t>
                      </a:r>
                    </a:p>
                  </a:txBody>
                  <a:tcPr>
                    <a:solidFill>
                      <a:srgbClr val="1E3C72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4495E"/>
                          </a:solidFill>
                        </a:defRPr>
                      </a:pPr>
                      <a:r>
                        <a:t>New York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4495E"/>
                          </a:solidFill>
                        </a:defRPr>
                      </a:pPr>
                      <a:r>
                        <a:t>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4495E"/>
                          </a:solidFill>
                        </a:defRPr>
                      </a:pPr>
                      <a:r>
                        <a:t>476,000</a:t>
                      </a:r>
                    </a:p>
                  </a:txBody>
                  <a:tcPr/>
                </a:tc>
              </a:tr>
              <a:tr h="40005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4495E"/>
                          </a:solidFill>
                        </a:defRPr>
                      </a:pPr>
                      <a:r>
                        <a:t>Los Angeles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4495E"/>
                          </a:solidFill>
                        </a:defRPr>
                      </a:pPr>
                      <a:r>
                        <a:t>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4495E"/>
                          </a:solidFill>
                        </a:defRPr>
                      </a:pPr>
                      <a:r>
                        <a:t>170,000</a:t>
                      </a:r>
                    </a:p>
                  </a:txBody>
                  <a:tcPr/>
                </a:tc>
              </a:tr>
              <a:tr h="40005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4495E"/>
                          </a:solidFill>
                        </a:defRPr>
                      </a:pPr>
                      <a:r>
                        <a:t>San Francisco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4495E"/>
                          </a:solidFill>
                        </a:defRPr>
                      </a:pPr>
                      <a:r>
                        <a:t>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4495E"/>
                          </a:solidFill>
                        </a:defRPr>
                      </a:pPr>
                      <a:r>
                        <a:t>140,000</a:t>
                      </a:r>
                    </a:p>
                  </a:txBody>
                  <a:tcPr/>
                </a:tc>
              </a:tr>
              <a:tr h="40005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4495E"/>
                          </a:solidFill>
                        </a:defRPr>
                      </a:pPr>
                      <a:r>
                        <a:t>Dallas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4495E"/>
                          </a:solidFill>
                        </a:defRPr>
                      </a:pPr>
                      <a:r>
                        <a:t>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4495E"/>
                          </a:solidFill>
                        </a:defRPr>
                      </a:pPr>
                      <a:r>
                        <a:t>95,000</a:t>
                      </a:r>
                    </a:p>
                  </a:txBody>
                  <a:tcPr/>
                </a:tc>
              </a:tr>
              <a:tr h="40005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4495E"/>
                          </a:solidFill>
                        </a:defRPr>
                      </a:pPr>
                      <a:r>
                        <a:t>Chicago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4495E"/>
                          </a:solidFill>
                        </a:defRPr>
                      </a:pPr>
                      <a:r>
                        <a:t>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4495E"/>
                          </a:solidFill>
                        </a:defRPr>
                      </a:pPr>
                      <a:r>
                        <a:t>120,000</a:t>
                      </a:r>
                    </a:p>
                  </a:txBody>
                  <a:tcPr/>
                </a:tc>
              </a:tr>
              <a:tr h="40005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4495E"/>
                          </a:solidFill>
                        </a:defRPr>
                      </a:pPr>
                      <a:r>
                        <a:t>Houston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4495E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4495E"/>
                          </a:solidFill>
                        </a:defRPr>
                      </a:pPr>
                      <a:r>
                        <a:t>65,000</a:t>
                      </a:r>
                    </a:p>
                  </a:txBody>
                  <a:tcPr/>
                </a:tc>
              </a:tr>
              <a:tr h="40005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4495E"/>
                          </a:solidFill>
                        </a:defRPr>
                      </a:pPr>
                      <a:r>
                        <a:t>Miami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4495E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4495E"/>
                          </a:solidFill>
                        </a:defRPr>
                      </a:pPr>
                      <a:r>
                        <a:t>55,000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54864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667EEA"/>
                </a:solidFill>
              </a:defRPr>
            </a:pPr>
            <a:r>
              <a:t>197 Premium ZIP Codes identified across 7 cities combining high household wealth and strong corporate presence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>
                <a:solidFill>
                  <a:srgbClr val="1E3C72"/>
                </a:solidFill>
              </a:defRPr>
            </a:pPr>
            <a:r>
              <a:t>Corporate Power Analysis</a:t>
            </a:r>
          </a:p>
        </p:txBody>
      </p:sp>
      <p:pic>
        <p:nvPicPr>
          <p:cNvPr id="3" name="Picture 2" descr="corporate_power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491559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0292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4495E"/>
                </a:solidFill>
              </a:defRPr>
            </a:pPr>
            <a:r>
              <a:t>• Dallas: Largest corporate base after MSA cost-of-living adjustments</a:t>
            </a:r>
          </a:p>
          <a:p>
            <a:pPr>
              <a:defRPr sz="1400">
                <a:solidFill>
                  <a:srgbClr val="34495E"/>
                </a:solidFill>
              </a:defRPr>
            </a:pPr>
            <a:r>
              <a:t>• San Francisco: Highest revenue per employee ($450k avg) - tech dominance</a:t>
            </a:r>
          </a:p>
          <a:p>
            <a:pPr>
              <a:defRPr sz="1400">
                <a:solidFill>
                  <a:srgbClr val="34495E"/>
                </a:solidFill>
              </a:defRPr>
            </a:pPr>
            <a:r>
              <a:t>• New York: Most diverse industry mix (Finance, Legal, Media, Real Estate)</a:t>
            </a:r>
          </a:p>
          <a:p>
            <a:pPr>
              <a:defRPr sz="1400" b="1">
                <a:solidFill>
                  <a:srgbClr val="667EEA"/>
                </a:solidFill>
              </a:defRPr>
            </a:pPr>
            <a:r>
              <a:t>• Key Industries: Finance, Technology, Professional Services, Healthcare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1E3C72"/>
                </a:solidFill>
              </a:defRPr>
            </a:pPr>
            <a:r>
              <a:t>Airport &amp; Heliport Infrastructure + Cluster Analysis</a:t>
            </a:r>
          </a:p>
        </p:txBody>
      </p:sp>
      <p:pic>
        <p:nvPicPr>
          <p:cNvPr id="3" name="Picture 2" descr="network_graph_natio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657403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30352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34495E"/>
                </a:solidFill>
              </a:defRPr>
            </a:pPr>
            <a:r>
              <a:t>• 197 premium ZIPs clustered into 21 groups around major aviation hubs</a:t>
            </a:r>
          </a:p>
          <a:p>
            <a:pPr>
              <a:defRPr sz="1300">
                <a:solidFill>
                  <a:srgbClr val="34495E"/>
                </a:solidFill>
              </a:defRPr>
            </a:pPr>
            <a:r>
              <a:t>• 30% of ZIPs have heliport within 5km  •  60% within 10km</a:t>
            </a:r>
          </a:p>
          <a:p>
            <a:pPr>
              <a:defRPr sz="1300" b="1">
                <a:solidFill>
                  <a:srgbClr val="667EEA"/>
                </a:solidFill>
              </a:defRPr>
            </a:pPr>
            <a:r>
              <a:t>• NYC: 200+ heliports  •  LA: 100+ heliports  •  Strong existing infrastructure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>
                <a:solidFill>
                  <a:srgbClr val="1E3C72"/>
                </a:solidFill>
              </a:defRPr>
            </a:pPr>
            <a:r>
              <a:t>Premium Flights Market Analysis</a:t>
            </a:r>
          </a:p>
        </p:txBody>
      </p:sp>
      <p:pic>
        <p:nvPicPr>
          <p:cNvPr id="3" name="Picture 2" descr="premium_seats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408599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029200"/>
            <a:ext cx="822960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34495E"/>
                </a:solidFill>
              </a:defRPr>
            </a:pPr>
            <a:r>
              <a:t>Focus: Widebody aircraft only (B787, B777, A330, A350) with flights &gt;5 hours</a:t>
            </a:r>
          </a:p>
          <a:p>
            <a:pPr>
              <a:defRPr sz="1300">
                <a:solidFill>
                  <a:srgbClr val="34495E"/>
                </a:solidFill>
              </a:defRPr>
            </a:pPr>
            <a:r>
              <a:t>Boeing 787 dominance: 40% of all premium flights (1.25M flights/year)</a:t>
            </a:r>
          </a:p>
          <a:p>
            <a:pPr>
              <a:defRPr sz="1300">
                <a:solidFill>
                  <a:srgbClr val="34495E"/>
                </a:solidFill>
              </a:defRPr>
            </a:pPr>
            <a:r>
              <a:t>B787-10 most luxurious: 142 premium seats average (First + Business + Premium Economy)</a:t>
            </a:r>
          </a:p>
          <a:p>
            <a:pPr>
              <a:defRPr sz="1300" b="1">
                <a:solidFill>
                  <a:srgbClr val="667EEA"/>
                </a:solidFill>
              </a:defRPr>
            </a:pPr>
            <a:r>
              <a:t>Total Market: 541,464 premium seats/day across 6 airports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1E3C72"/>
                </a:solidFill>
              </a:defRPr>
            </a:pPr>
            <a:r>
              <a:t>Peak Hours for Premium Passengers (Local Time)</a:t>
            </a:r>
          </a:p>
        </p:txBody>
      </p:sp>
      <p:pic>
        <p:nvPicPr>
          <p:cNvPr id="3" name="Picture 2" descr="heatmap_hour_local_samp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357572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029200"/>
            <a:ext cx="3657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74C3C"/>
                </a:solidFill>
              </a:defRPr>
            </a:pPr>
            <a:r>
              <a:t>Morning Peak (9-11am): Highest arrivals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5029200"/>
            <a:ext cx="3657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39C12"/>
                </a:solidFill>
              </a:defRPr>
            </a:pPr>
            <a:r>
              <a:t>Evening Peak (5-7pm): Secondary rush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7607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667EEA"/>
                </a:solidFill>
              </a:defRPr>
            </a:pPr>
            <a:r>
              <a:t>Operational Insight: Helicopter fleet must be positioned pre-9am for morning peak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i="1">
                <a:solidFill>
                  <a:srgbClr val="34495E"/>
                </a:solidFill>
              </a:defRPr>
            </a:pPr>
            <a:r>
              <a:t>Note: All times converted from UTC to local timezone for each airport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>
                <a:solidFill>
                  <a:srgbClr val="1E3C72"/>
                </a:solidFill>
              </a:defRPr>
            </a:pPr>
            <a:r>
              <a:t>Market Potential &amp; Revenue Scenarios</a:t>
            </a:r>
          </a:p>
        </p:txBody>
      </p:sp>
      <p:pic>
        <p:nvPicPr>
          <p:cNvPr id="3" name="Picture 2" descr="revenue_scenarios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4781006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5486400"/>
          <a:ext cx="731520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1463040"/>
                <a:gridCol w="1463040"/>
                <a:gridCol w="1463040"/>
                <a:gridCol w="1463040"/>
              </a:tblGrid>
              <a:tr h="22860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Scenario</a:t>
                      </a:r>
                    </a:p>
                  </a:txBody>
                  <a:tcPr>
                    <a:solidFill>
                      <a:srgbClr val="1E3C7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JFK</a:t>
                      </a:r>
                    </a:p>
                  </a:txBody>
                  <a:tcPr>
                    <a:solidFill>
                      <a:srgbClr val="1E3C7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LAX</a:t>
                      </a:r>
                    </a:p>
                  </a:txBody>
                  <a:tcPr>
                    <a:solidFill>
                      <a:srgbClr val="1E3C7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ORD</a:t>
                      </a:r>
                    </a:p>
                  </a:txBody>
                  <a:tcPr>
                    <a:solidFill>
                      <a:srgbClr val="1E3C7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1E3C72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4495E"/>
                          </a:solidFill>
                        </a:defRPr>
                      </a:pPr>
                      <a:r>
                        <a:t>Conservative (0.1%)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4495E"/>
                          </a:solidFill>
                        </a:defRPr>
                      </a:pPr>
                      <a:r>
                        <a:t>$15M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4495E"/>
                          </a:solidFill>
                        </a:defRPr>
                      </a:pPr>
                      <a:r>
                        <a:t>$13M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4495E"/>
                          </a:solidFill>
                        </a:defRPr>
                      </a:pPr>
                      <a:r>
                        <a:t>$11M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667EEA"/>
                          </a:solidFill>
                        </a:defRPr>
                      </a:pPr>
                      <a:r>
                        <a:t>$39M</a:t>
                      </a:r>
                    </a:p>
                  </a:txBody>
                  <a:tcPr/>
                </a:tc>
              </a:tr>
              <a:tr h="2286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4495E"/>
                          </a:solidFill>
                        </a:defRPr>
                      </a:pPr>
                      <a:r>
                        <a:t>Moderate (0.5%)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4495E"/>
                          </a:solidFill>
                        </a:defRPr>
                      </a:pPr>
                      <a:r>
                        <a:t>$75M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4495E"/>
                          </a:solidFill>
                        </a:defRPr>
                      </a:pPr>
                      <a:r>
                        <a:t>$64M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4495E"/>
                          </a:solidFill>
                        </a:defRPr>
                      </a:pPr>
                      <a:r>
                        <a:t>$56M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667EEA"/>
                          </a:solidFill>
                        </a:defRPr>
                      </a:pPr>
                      <a:r>
                        <a:t>$194M</a:t>
                      </a:r>
                    </a:p>
                  </a:txBody>
                  <a:tcPr/>
                </a:tc>
              </a:tr>
              <a:tr h="2286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4495E"/>
                          </a:solidFill>
                        </a:defRPr>
                      </a:pPr>
                      <a:r>
                        <a:t>Optimistic (1.0%)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4495E"/>
                          </a:solidFill>
                        </a:defRPr>
                      </a:pPr>
                      <a:r>
                        <a:t>$149M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4495E"/>
                          </a:solidFill>
                        </a:defRPr>
                      </a:pPr>
                      <a:r>
                        <a:t>$128M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4495E"/>
                          </a:solidFill>
                        </a:defRPr>
                      </a:pPr>
                      <a:r>
                        <a:t>$111M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667EEA"/>
                          </a:solidFill>
                        </a:defRPr>
                      </a:pPr>
                      <a:r>
                        <a:t>$389M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>
                <a:solidFill>
                  <a:srgbClr val="1E3C72"/>
                </a:solidFill>
              </a:defRPr>
            </a:pPr>
            <a:r>
              <a:t>Strategic Recommendations &amp;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E74C3C"/>
                </a:solidFill>
              </a:defRPr>
            </a:pPr>
            <a:r>
              <a:t>Priority 1: New York JFK</a:t>
            </a:r>
          </a:p>
          <a:p>
            <a:pPr>
              <a:defRPr sz="1300">
                <a:solidFill>
                  <a:srgbClr val="34495E"/>
                </a:solidFill>
              </a:defRPr>
            </a:pPr>
            <a:r>
              <a:t>  • Largest market: 136k premium seats/day</a:t>
            </a:r>
          </a:p>
          <a:p>
            <a:pPr>
              <a:defRPr sz="1300">
                <a:solidFill>
                  <a:srgbClr val="34495E"/>
                </a:solidFill>
              </a:defRPr>
            </a:pPr>
            <a:r>
              <a:t>  • Established heliport infrastructure (200+ facilities)</a:t>
            </a:r>
          </a:p>
          <a:p>
            <a:pPr>
              <a:defRPr sz="1300">
                <a:solidFill>
                  <a:srgbClr val="34495E"/>
                </a:solidFill>
              </a:defRPr>
            </a:pPr>
            <a:r>
              <a:t>  • Severe traffic congestion = high value proposition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74320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3498DB"/>
                </a:solidFill>
              </a:defRPr>
            </a:pPr>
            <a:r>
              <a:t>Priority 2: Los Angeles LAX</a:t>
            </a:r>
          </a:p>
          <a:p>
            <a:pPr>
              <a:defRPr sz="1300">
                <a:solidFill>
                  <a:srgbClr val="34495E"/>
                </a:solidFill>
              </a:defRPr>
            </a:pPr>
            <a:r>
              <a:t>  • Second largest: 117k premium seats/day</a:t>
            </a:r>
          </a:p>
          <a:p>
            <a:pPr>
              <a:defRPr sz="1300">
                <a:solidFill>
                  <a:srgbClr val="34495E"/>
                </a:solidFill>
              </a:defRPr>
            </a:pPr>
            <a:r>
              <a:t>  • Existing helicopter culture and acceptance</a:t>
            </a:r>
          </a:p>
          <a:p>
            <a:pPr>
              <a:defRPr sz="1300">
                <a:solidFill>
                  <a:srgbClr val="34495E"/>
                </a:solidFill>
              </a:defRPr>
            </a:pPr>
            <a:r>
              <a:t>  • Geographic spread favors aerial transport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11480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2ECC71"/>
                </a:solidFill>
              </a:defRPr>
            </a:pPr>
            <a:r>
              <a:t>Priority 3: Chicago ORD</a:t>
            </a:r>
          </a:p>
          <a:p>
            <a:pPr>
              <a:defRPr sz="1300">
                <a:solidFill>
                  <a:srgbClr val="34495E"/>
                </a:solidFill>
              </a:defRPr>
            </a:pPr>
            <a:r>
              <a:t>  • Third largest: 101k premium seats/day</a:t>
            </a:r>
          </a:p>
          <a:p>
            <a:pPr>
              <a:defRPr sz="1300">
                <a:solidFill>
                  <a:srgbClr val="34495E"/>
                </a:solidFill>
              </a:defRPr>
            </a:pPr>
            <a:r>
              <a:t>  • Highest avg seats/flight (90.8) = larger aircraft, more passengers</a:t>
            </a:r>
          </a:p>
          <a:p>
            <a:pPr>
              <a:defRPr sz="1300">
                <a:solidFill>
                  <a:srgbClr val="34495E"/>
                </a:solidFill>
              </a:defRPr>
            </a:pPr>
            <a:r>
              <a:t>  • Central US hub with strong corporate base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4864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E3C72"/>
                </a:solidFill>
              </a:defRPr>
            </a:pPr>
            <a:r>
              <a:t>Implementation Timeline:</a:t>
            </a:r>
          </a:p>
          <a:p>
            <a:pPr>
              <a:defRPr sz="1200">
                <a:solidFill>
                  <a:srgbClr val="34495E"/>
                </a:solidFill>
              </a:defRPr>
            </a:pPr>
            <a:r>
              <a:t>Phase 1 (Q1): Detailed route analysis + pricing strategy development</a:t>
            </a:r>
          </a:p>
          <a:p>
            <a:pPr>
              <a:defRPr sz="1200">
                <a:solidFill>
                  <a:srgbClr val="34495E"/>
                </a:solidFill>
              </a:defRPr>
            </a:pPr>
            <a:r>
              <a:t>Phase 2 (Q2): Partnership discussions with FBOs and heliport operators</a:t>
            </a:r>
          </a:p>
          <a:p>
            <a:pPr>
              <a:defRPr sz="1200" b="1">
                <a:solidFill>
                  <a:srgbClr val="667EEA"/>
                </a:solidFill>
              </a:defRPr>
            </a:pPr>
            <a:r>
              <a:t>Phase 3 (Q3): Pilot launch in Priority 1 market (New York JFK)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